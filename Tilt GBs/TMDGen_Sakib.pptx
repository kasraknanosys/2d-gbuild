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412" r:id="rId2"/>
    <p:sldId id="415" r:id="rId3"/>
    <p:sldId id="416" r:id="rId4"/>
    <p:sldId id="417" r:id="rId5"/>
    <p:sldId id="418" r:id="rId6"/>
    <p:sldId id="419" r:id="rId7"/>
    <p:sldId id="420" r:id="rId8"/>
    <p:sldId id="421" r:id="rId9"/>
    <p:sldId id="37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6" y="3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8EAEC9-3B4F-4CF9-A406-DCE83B8FA269}" type="datetimeFigureOut">
              <a:rPr lang="en-US" smtClean="0"/>
              <a:t>4/19/2024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B43CE4-B545-4BBA-B232-7E2E25F38E3D}" type="slidenum">
              <a:rPr lang="en-US" smtClean="0"/>
              <a:t>‹#›</a:t>
            </a:fld>
            <a:endParaRPr lang="en-US"/>
          </a:p>
        </p:txBody>
      </p:sp>
    </p:spTree>
    <p:extLst>
      <p:ext uri="{BB962C8B-B14F-4D97-AF65-F5344CB8AC3E}">
        <p14:creationId xmlns:p14="http://schemas.microsoft.com/office/powerpoint/2010/main" val="3153475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23A375-B0EF-B043-914D-3DB534F0FE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2927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B43CE4-B545-4BBA-B232-7E2E25F38E3D}" type="slidenum">
              <a:rPr lang="en-US" smtClean="0"/>
              <a:t>5</a:t>
            </a:fld>
            <a:endParaRPr lang="en-US"/>
          </a:p>
        </p:txBody>
      </p:sp>
    </p:spTree>
    <p:extLst>
      <p:ext uri="{BB962C8B-B14F-4D97-AF65-F5344CB8AC3E}">
        <p14:creationId xmlns:p14="http://schemas.microsoft.com/office/powerpoint/2010/main" val="4060882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p:txBody>
          <a:bodyPr/>
          <a:lstStyle>
            <a:lvl1pPr>
              <a:defRPr sz="2000">
                <a:latin typeface="Cooper Black" charset="0"/>
                <a:ea typeface="Cooper Black" charset="0"/>
                <a:cs typeface="Cooper Black" charset="0"/>
              </a:defRPr>
            </a:lvl1pPr>
          </a:lstStyle>
          <a:p>
            <a:r>
              <a:rPr lang="en-US" b="1"/>
              <a:t>AdHiMad Lab</a:t>
            </a:r>
            <a:endParaRPr lang="en-US" dirty="0"/>
          </a:p>
        </p:txBody>
      </p:sp>
      <p:sp>
        <p:nvSpPr>
          <p:cNvPr id="6" name="Slide Number Placeholder 5"/>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791358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758669"/>
          </a:xfrm>
        </p:spPr>
        <p:txBody>
          <a:bodyPr/>
          <a:lstStyle>
            <a:lvl1pPr algn="ctr">
              <a:defRPr b="1" i="0">
                <a:latin typeface="Arial" charset="0"/>
                <a:ea typeface="Arial" charset="0"/>
                <a:cs typeface="Arial" charset="0"/>
              </a:defRPr>
            </a:lvl1pPr>
          </a:lstStyle>
          <a:p>
            <a:r>
              <a:rPr lang="en-US" dirty="0"/>
              <a:t>Click to edit Master title style</a:t>
            </a:r>
          </a:p>
        </p:txBody>
      </p:sp>
      <p:sp>
        <p:nvSpPr>
          <p:cNvPr id="3" name="Content Placeholder 2"/>
          <p:cNvSpPr>
            <a:spLocks noGrp="1"/>
          </p:cNvSpPr>
          <p:nvPr>
            <p:ph idx="1"/>
          </p:nvPr>
        </p:nvSpPr>
        <p:spPr>
          <a:xfrm>
            <a:off x="838200" y="1347258"/>
            <a:ext cx="10515600" cy="46513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2000"/>
            </a:lvl1pPr>
          </a:lstStyle>
          <a:p>
            <a:r>
              <a:rPr lang="en-US" b="1">
                <a:latin typeface="Cooper Black" charset="0"/>
                <a:ea typeface="Cooper Black" charset="0"/>
                <a:cs typeface="Cooper Black" charset="0"/>
              </a:rPr>
              <a:t>AdHiMad Lab</a:t>
            </a:r>
            <a:endParaRPr lang="en-US" dirty="0"/>
          </a:p>
        </p:txBody>
      </p:sp>
      <p:sp>
        <p:nvSpPr>
          <p:cNvPr id="6" name="Slide Number Placeholder 5"/>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4149727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lvl1pPr>
              <a:defRPr>
                <a:latin typeface="Cooper Black" charset="0"/>
                <a:ea typeface="Cooper Black" charset="0"/>
                <a:cs typeface="Cooper Black" charset="0"/>
              </a:defRPr>
            </a:lvl1pPr>
          </a:lstStyle>
          <a:p>
            <a:r>
              <a:rPr lang="en-US"/>
              <a:t>AdHiMad Lab</a:t>
            </a:r>
            <a:endParaRPr lang="en-US" dirty="0"/>
          </a:p>
        </p:txBody>
      </p:sp>
      <p:sp>
        <p:nvSpPr>
          <p:cNvPr id="6" name="Slide Number Placeholder 5"/>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354710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a:latin typeface="Arial" charset="0"/>
                <a:ea typeface="Arial" charset="0"/>
                <a:cs typeface="Arial" charset="0"/>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lvl1pPr>
              <a:defRPr>
                <a:latin typeface="Cooper Black" charset="0"/>
                <a:ea typeface="Cooper Black" charset="0"/>
                <a:cs typeface="Cooper Black" charset="0"/>
              </a:defRPr>
            </a:lvl1pPr>
          </a:lstStyle>
          <a:p>
            <a:r>
              <a:rPr lang="en-US"/>
              <a:t>AdHiMad Lab</a:t>
            </a:r>
            <a:endParaRPr lang="en-US" dirty="0"/>
          </a:p>
        </p:txBody>
      </p:sp>
      <p:sp>
        <p:nvSpPr>
          <p:cNvPr id="7" name="Slide Number Placeholder 6"/>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3094946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758669"/>
          </a:xfrm>
        </p:spPr>
        <p:txBody>
          <a:bodyPr/>
          <a:lstStyle>
            <a:lvl1pPr algn="ctr">
              <a:defRPr b="1">
                <a:latin typeface="Arial" charset="0"/>
                <a:ea typeface="Arial" charset="0"/>
                <a:cs typeface="Arial" charset="0"/>
              </a:defRPr>
            </a:lvl1pPr>
          </a:lstStyle>
          <a:p>
            <a:r>
              <a:rPr lang="en-US"/>
              <a:t>Click to edit Master title style</a:t>
            </a:r>
          </a:p>
        </p:txBody>
      </p:sp>
      <p:sp>
        <p:nvSpPr>
          <p:cNvPr id="3" name="Text Placeholder 2"/>
          <p:cNvSpPr>
            <a:spLocks noGrp="1"/>
          </p:cNvSpPr>
          <p:nvPr>
            <p:ph type="body" idx="1"/>
          </p:nvPr>
        </p:nvSpPr>
        <p:spPr>
          <a:xfrm>
            <a:off x="839788" y="124301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06692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24301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06692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lvl1pPr>
              <a:defRPr>
                <a:latin typeface="Cooper Black" charset="0"/>
                <a:ea typeface="Cooper Black" charset="0"/>
                <a:cs typeface="Cooper Black" charset="0"/>
              </a:defRPr>
            </a:lvl1pPr>
          </a:lstStyle>
          <a:p>
            <a:r>
              <a:rPr lang="en-US"/>
              <a:t>AdHiMad Lab</a:t>
            </a:r>
            <a:endParaRPr lang="en-US" dirty="0"/>
          </a:p>
        </p:txBody>
      </p:sp>
      <p:sp>
        <p:nvSpPr>
          <p:cNvPr id="9" name="Slide Number Placeholder 8"/>
          <p:cNvSpPr>
            <a:spLocks noGrp="1"/>
          </p:cNvSpPr>
          <p:nvPr>
            <p:ph type="sldNum" sz="quarter" idx="12"/>
          </p:nvPr>
        </p:nvSpPr>
        <p:spPr/>
        <p:txBody>
          <a:bodyPr/>
          <a:lstStyle>
            <a:lvl1pPr>
              <a:defRPr>
                <a:solidFill>
                  <a:schemeClr val="bg1"/>
                </a:solidFill>
              </a:defRPr>
            </a:lvl1pPr>
          </a:lstStyle>
          <a:p>
            <a:fld id="{FC479A02-7583-0A4C-B996-8A3A8D1BCEA6}" type="slidenum">
              <a:rPr lang="en-US" smtClean="0"/>
              <a:pPr/>
              <a:t>‹#›</a:t>
            </a:fld>
            <a:endParaRPr lang="en-US"/>
          </a:p>
        </p:txBody>
      </p:sp>
    </p:spTree>
    <p:extLst>
      <p:ext uri="{BB962C8B-B14F-4D97-AF65-F5344CB8AC3E}">
        <p14:creationId xmlns:p14="http://schemas.microsoft.com/office/powerpoint/2010/main" val="3396435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i="0">
                <a:latin typeface="Arial" charset="0"/>
                <a:ea typeface="Arial" charset="0"/>
                <a:cs typeface="Arial" charset="0"/>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sz="2000"/>
            </a:lvl1pPr>
          </a:lstStyle>
          <a:p>
            <a:r>
              <a:rPr lang="en-US" b="1">
                <a:latin typeface="Cooper Black" charset="0"/>
                <a:ea typeface="Cooper Black" charset="0"/>
                <a:cs typeface="Cooper Black" charset="0"/>
              </a:rPr>
              <a:t>AdHiMad Lab</a:t>
            </a:r>
            <a:endParaRPr lang="en-US" dirty="0"/>
          </a:p>
        </p:txBody>
      </p:sp>
      <p:sp>
        <p:nvSpPr>
          <p:cNvPr id="5" name="Slide Number Placeholder 4"/>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608883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latin typeface="Cooper Black" charset="0"/>
                <a:ea typeface="Cooper Black" charset="0"/>
                <a:cs typeface="Cooper Black" charset="0"/>
              </a:defRPr>
            </a:lvl1pPr>
          </a:lstStyle>
          <a:p>
            <a:r>
              <a:rPr lang="en-US"/>
              <a:t>AdHiMad Lab</a:t>
            </a:r>
            <a:endParaRPr lang="en-US" dirty="0"/>
          </a:p>
        </p:txBody>
      </p:sp>
      <p:sp>
        <p:nvSpPr>
          <p:cNvPr id="4" name="Slide Number Placeholder 3"/>
          <p:cNvSpPr>
            <a:spLocks noGrp="1"/>
          </p:cNvSpPr>
          <p:nvPr>
            <p:ph type="sldNum" sz="quarter" idx="12"/>
          </p:nvPr>
        </p:nvSpPr>
        <p:spPr>
          <a:xfrm>
            <a:off x="9254067" y="6356349"/>
            <a:ext cx="2743200" cy="365125"/>
          </a:xfrm>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4277471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lvl1pPr>
              <a:defRPr>
                <a:latin typeface="Cooper Black" charset="0"/>
                <a:ea typeface="Cooper Black" charset="0"/>
                <a:cs typeface="Cooper Black" charset="0"/>
              </a:defRPr>
            </a:lvl1pPr>
          </a:lstStyle>
          <a:p>
            <a:r>
              <a:rPr lang="en-US"/>
              <a:t>AdHiMad Lab</a:t>
            </a:r>
          </a:p>
        </p:txBody>
      </p:sp>
      <p:sp>
        <p:nvSpPr>
          <p:cNvPr id="7" name="Slide Number Placeholder 6"/>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3045937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lvl1pPr>
              <a:defRPr>
                <a:latin typeface="Cooper Black" charset="0"/>
                <a:ea typeface="Cooper Black" charset="0"/>
                <a:cs typeface="Cooper Black" charset="0"/>
              </a:defRPr>
            </a:lvl1pPr>
          </a:lstStyle>
          <a:p>
            <a:r>
              <a:rPr lang="en-US"/>
              <a:t>AdHiMad Lab</a:t>
            </a:r>
          </a:p>
        </p:txBody>
      </p:sp>
      <p:sp>
        <p:nvSpPr>
          <p:cNvPr id="7" name="Slide Number Placeholder 6"/>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1994990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AdHiMad Lab</a:t>
            </a:r>
          </a:p>
        </p:txBody>
      </p:sp>
      <p:sp>
        <p:nvSpPr>
          <p:cNvPr id="6" name="Slide Number Placeholder 5"/>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1756926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AdHiMad Lab</a:t>
            </a:r>
          </a:p>
        </p:txBody>
      </p:sp>
      <p:sp>
        <p:nvSpPr>
          <p:cNvPr id="6" name="Slide Number Placeholder 5"/>
          <p:cNvSpPr>
            <a:spLocks noGrp="1"/>
          </p:cNvSpPr>
          <p:nvPr>
            <p:ph type="sldNum" sz="quarter" idx="12"/>
          </p:nvPr>
        </p:nvSpPr>
        <p:spPr/>
        <p:txBody>
          <a:bodyPr/>
          <a:lstStyle/>
          <a:p>
            <a:fld id="{FC479A02-7583-0A4C-B996-8A3A8D1BCEA6}" type="slidenum">
              <a:rPr lang="en-US" smtClean="0"/>
              <a:t>‹#›</a:t>
            </a:fld>
            <a:endParaRPr lang="en-US"/>
          </a:p>
        </p:txBody>
      </p:sp>
    </p:spTree>
    <p:extLst>
      <p:ext uri="{BB962C8B-B14F-4D97-AF65-F5344CB8AC3E}">
        <p14:creationId xmlns:p14="http://schemas.microsoft.com/office/powerpoint/2010/main" val="3753507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7"/>
          <p:cNvSpPr>
            <a:spLocks noChangeArrowheads="1"/>
          </p:cNvSpPr>
          <p:nvPr userDrawn="1"/>
        </p:nvSpPr>
        <p:spPr bwMode="auto">
          <a:xfrm>
            <a:off x="0" y="6196013"/>
            <a:ext cx="12192000" cy="655637"/>
          </a:xfrm>
          <a:prstGeom prst="rect">
            <a:avLst/>
          </a:prstGeom>
          <a:solidFill>
            <a:srgbClr val="CC0000"/>
          </a:solidFill>
          <a:ln w="9525">
            <a:solidFill>
              <a:schemeClr val="tx1"/>
            </a:solidFill>
            <a:miter lim="800000"/>
            <a:headEnd/>
            <a:tailEnd/>
          </a:ln>
        </p:spPr>
        <p:txBody>
          <a:bodyPr wrap="none" anchor="ctr"/>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eaLnBrk="1" hangingPunct="1">
              <a:defRPr/>
            </a:pPr>
            <a:endParaRPr lang="en-US" altLang="en-US"/>
          </a:p>
        </p:txBody>
      </p:sp>
      <p:sp>
        <p:nvSpPr>
          <p:cNvPr id="2" name="Title Placeholder 1"/>
          <p:cNvSpPr>
            <a:spLocks noGrp="1"/>
          </p:cNvSpPr>
          <p:nvPr userDrawn="1">
            <p:ph type="title"/>
          </p:nvPr>
        </p:nvSpPr>
        <p:spPr>
          <a:xfrm>
            <a:off x="0" y="365125"/>
            <a:ext cx="12192000" cy="796925"/>
          </a:xfrm>
          <a:prstGeom prst="rect">
            <a:avLst/>
          </a:prstGeom>
          <a:solidFill>
            <a:srgbClr val="C00000"/>
          </a:solidFill>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userDrawn="1">
            <p:ph type="body" idx="1"/>
          </p:nvPr>
        </p:nvSpPr>
        <p:spPr>
          <a:xfrm>
            <a:off x="838200" y="1825625"/>
            <a:ext cx="10515600" cy="4170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userDrawn="1">
            <p:ph type="ftr" sz="quarter" idx="3"/>
          </p:nvPr>
        </p:nvSpPr>
        <p:spPr>
          <a:xfrm>
            <a:off x="4038600" y="6356350"/>
            <a:ext cx="4114800" cy="365125"/>
          </a:xfrm>
          <a:prstGeom prst="rect">
            <a:avLst/>
          </a:prstGeom>
        </p:spPr>
        <p:txBody>
          <a:bodyPr vert="horz" lIns="91440" tIns="45720" rIns="91440" bIns="45720" rtlCol="0" anchor="ctr"/>
          <a:lstStyle>
            <a:lvl1pPr algn="ctr">
              <a:defRPr sz="2000">
                <a:solidFill>
                  <a:schemeClr val="bg1"/>
                </a:solidFill>
              </a:defRPr>
            </a:lvl1pPr>
          </a:lstStyle>
          <a:p>
            <a:r>
              <a:rPr lang="en-US" b="1" dirty="0" err="1">
                <a:latin typeface="Cooper Black" charset="0"/>
                <a:ea typeface="Cooper Black" charset="0"/>
                <a:cs typeface="Cooper Black" charset="0"/>
              </a:rPr>
              <a:t>AdHiMad</a:t>
            </a:r>
            <a:r>
              <a:rPr lang="en-US" b="1" dirty="0">
                <a:latin typeface="Cooper Black" charset="0"/>
                <a:ea typeface="Cooper Black" charset="0"/>
                <a:cs typeface="Cooper Black" charset="0"/>
              </a:rPr>
              <a:t> Lab</a:t>
            </a:r>
            <a:endParaRPr lang="en-US" dirty="0"/>
          </a:p>
        </p:txBody>
      </p:sp>
      <p:sp>
        <p:nvSpPr>
          <p:cNvPr id="6" name="Slide Number Placeholder 5"/>
          <p:cNvSpPr>
            <a:spLocks noGrp="1"/>
          </p:cNvSpPr>
          <p:nvPr userDrawn="1">
            <p:ph type="sldNum" sz="quarter" idx="4"/>
          </p:nvPr>
        </p:nvSpPr>
        <p:spPr>
          <a:xfrm>
            <a:off x="9304867" y="6356350"/>
            <a:ext cx="2743200" cy="365125"/>
          </a:xfrm>
          <a:prstGeom prst="rect">
            <a:avLst/>
          </a:prstGeom>
        </p:spPr>
        <p:txBody>
          <a:bodyPr vert="horz" lIns="91440" tIns="45720" rIns="91440" bIns="45720" rtlCol="0" anchor="ctr"/>
          <a:lstStyle>
            <a:lvl1pPr algn="r">
              <a:defRPr sz="1200">
                <a:solidFill>
                  <a:schemeClr val="bg1"/>
                </a:solidFill>
                <a:latin typeface="Cooper Black" charset="0"/>
                <a:ea typeface="Cooper Black" charset="0"/>
                <a:cs typeface="Cooper Black" charset="0"/>
              </a:defRPr>
            </a:lvl1pPr>
          </a:lstStyle>
          <a:p>
            <a:fld id="{FC479A02-7583-0A4C-B996-8A3A8D1BCEA6}" type="slidenum">
              <a:rPr lang="en-US" smtClean="0"/>
              <a:pPr/>
              <a:t>‹#›</a:t>
            </a:fld>
            <a:endParaRPr lang="en-US"/>
          </a:p>
        </p:txBody>
      </p:sp>
      <p:pic>
        <p:nvPicPr>
          <p:cNvPr id="10" name="Picture 9">
            <a:extLst>
              <a:ext uri="{FF2B5EF4-FFF2-40B4-BE49-F238E27FC236}">
                <a16:creationId xmlns:a16="http://schemas.microsoft.com/office/drawing/2014/main" id="{63809722-8DEA-F04A-AD06-E19DC9AE2BB2}"/>
              </a:ext>
            </a:extLst>
          </p:cNvPr>
          <p:cNvPicPr>
            <a:picLocks noChangeAspect="1"/>
          </p:cNvPicPr>
          <p:nvPr userDrawn="1"/>
        </p:nvPicPr>
        <p:blipFill rotWithShape="1">
          <a:blip r:embed="rId13"/>
          <a:srcRect l="2867" t="89741" r="92772" b="4319"/>
          <a:stretch/>
        </p:blipFill>
        <p:spPr>
          <a:xfrm>
            <a:off x="76200" y="6203156"/>
            <a:ext cx="635000" cy="648494"/>
          </a:xfrm>
          <a:prstGeom prst="rect">
            <a:avLst/>
          </a:prstGeom>
        </p:spPr>
      </p:pic>
    </p:spTree>
    <p:extLst>
      <p:ext uri="{BB962C8B-B14F-4D97-AF65-F5344CB8AC3E}">
        <p14:creationId xmlns:p14="http://schemas.microsoft.com/office/powerpoint/2010/main" val="2889682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bg1"/>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569027"/>
            <a:ext cx="12192000" cy="2376151"/>
          </a:xfrm>
        </p:spPr>
        <p:txBody>
          <a:bodyPr anchor="ctr">
            <a:normAutofit/>
          </a:bodyPr>
          <a:lstStyle/>
          <a:p>
            <a:r>
              <a:rPr lang="en-US" b="1" dirty="0" err="1"/>
              <a:t>TMDGen</a:t>
            </a:r>
            <a:endParaRPr lang="en-US" b="1" dirty="0">
              <a:latin typeface="Cooper Black" charset="0"/>
              <a:ea typeface="Cooper Black" charset="0"/>
              <a:cs typeface="Cooper Black" charset="0"/>
            </a:endParaRPr>
          </a:p>
        </p:txBody>
      </p:sp>
      <p:sp>
        <p:nvSpPr>
          <p:cNvPr id="3" name="Subtitle 2"/>
          <p:cNvSpPr>
            <a:spLocks noGrp="1"/>
          </p:cNvSpPr>
          <p:nvPr>
            <p:ph type="subTitle" idx="1"/>
          </p:nvPr>
        </p:nvSpPr>
        <p:spPr>
          <a:xfrm>
            <a:off x="1135879" y="3921282"/>
            <a:ext cx="9869577" cy="1124851"/>
          </a:xfrm>
        </p:spPr>
        <p:txBody>
          <a:bodyPr anchor="ctr">
            <a:normAutofit/>
          </a:bodyPr>
          <a:lstStyle/>
          <a:p>
            <a:r>
              <a:rPr lang="en-US" sz="4000" dirty="0"/>
              <a:t>Nuruzzaman Sakib</a:t>
            </a:r>
            <a:endParaRPr lang="en-US" sz="4000" baseline="30000" dirty="0"/>
          </a:p>
        </p:txBody>
      </p:sp>
      <p:sp>
        <p:nvSpPr>
          <p:cNvPr id="4" name="Subtitle 2"/>
          <p:cNvSpPr txBox="1">
            <a:spLocks/>
          </p:cNvSpPr>
          <p:nvPr/>
        </p:nvSpPr>
        <p:spPr>
          <a:xfrm>
            <a:off x="1203544" y="5503333"/>
            <a:ext cx="9869577" cy="518904"/>
          </a:xfrm>
          <a:prstGeom prst="rect">
            <a:avLst/>
          </a:prstGeom>
        </p:spPr>
        <p:txBody>
          <a:bodyPr vert="horz" lIns="91440" tIns="45720" rIns="91440" bIns="45720" rtlCol="0" anchor="ctr">
            <a:normAutofit fontScale="55000" lnSpcReduction="20000"/>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Department of Mechanical Engineering, University of Alabama, </a:t>
            </a:r>
            <a:r>
              <a:rPr kumimoji="0" lang="en-US" sz="4000" b="0" i="0" u="none" strike="noStrike" kern="1200" cap="none" spc="0" normalizeH="0" baseline="0" noProof="0">
                <a:ln>
                  <a:noFill/>
                </a:ln>
                <a:solidFill>
                  <a:prstClr val="black"/>
                </a:solidFill>
                <a:effectLst/>
                <a:uLnTx/>
                <a:uFillTx/>
                <a:latin typeface="Calibri" panose="020F0502020204030204"/>
                <a:ea typeface="+mn-ea"/>
                <a:cs typeface="+mn-cs"/>
              </a:rPr>
              <a:t>Tuscaloosa, AL</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0448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34950-2221-4B9D-9E21-5720612584D1}"/>
              </a:ext>
            </a:extLst>
          </p:cNvPr>
          <p:cNvSpPr>
            <a:spLocks noGrp="1"/>
          </p:cNvSpPr>
          <p:nvPr>
            <p:ph type="title"/>
          </p:nvPr>
        </p:nvSpPr>
        <p:spPr/>
        <p:txBody>
          <a:bodyPr/>
          <a:lstStyle/>
          <a:p>
            <a:r>
              <a:rPr lang="en-US" dirty="0" err="1"/>
              <a:t>TMDGen</a:t>
            </a:r>
            <a:endParaRPr lang="en-US" dirty="0"/>
          </a:p>
        </p:txBody>
      </p:sp>
      <p:sp>
        <p:nvSpPr>
          <p:cNvPr id="3" name="Content Placeholder 2">
            <a:extLst>
              <a:ext uri="{FF2B5EF4-FFF2-40B4-BE49-F238E27FC236}">
                <a16:creationId xmlns:a16="http://schemas.microsoft.com/office/drawing/2014/main" id="{07276C04-8869-4D0A-82C6-0C604122CA43}"/>
              </a:ext>
            </a:extLst>
          </p:cNvPr>
          <p:cNvSpPr>
            <a:spLocks noGrp="1"/>
          </p:cNvSpPr>
          <p:nvPr>
            <p:ph idx="1"/>
          </p:nvPr>
        </p:nvSpPr>
        <p:spPr>
          <a:xfrm>
            <a:off x="838199" y="1347258"/>
            <a:ext cx="10762673" cy="4651375"/>
          </a:xfrm>
        </p:spPr>
        <p:txBody>
          <a:bodyPr>
            <a:normAutofit fontScale="92500" lnSpcReduction="20000"/>
          </a:bodyPr>
          <a:lstStyle/>
          <a:p>
            <a:pPr marL="0" indent="0" algn="just">
              <a:buNone/>
            </a:pPr>
            <a:r>
              <a:rPr lang="en-US" b="1" dirty="0">
                <a:solidFill>
                  <a:srgbClr val="FF0000"/>
                </a:solidFill>
              </a:rPr>
              <a:t>Introducing </a:t>
            </a:r>
            <a:r>
              <a:rPr lang="en-US" b="1" dirty="0" err="1">
                <a:solidFill>
                  <a:srgbClr val="FF0000"/>
                </a:solidFill>
              </a:rPr>
              <a:t>TMDGen</a:t>
            </a:r>
            <a:r>
              <a:rPr lang="en-US" b="1" dirty="0">
                <a:solidFill>
                  <a:srgbClr val="FF0000"/>
                </a:solidFill>
              </a:rPr>
              <a:t>: </a:t>
            </a:r>
            <a:r>
              <a:rPr lang="en-US" dirty="0"/>
              <a:t>Your Gateway to WSe</a:t>
            </a:r>
            <a:r>
              <a:rPr lang="en-US" baseline="-25000" dirty="0"/>
              <a:t>2</a:t>
            </a:r>
            <a:r>
              <a:rPr lang="en-US" dirty="0"/>
              <a:t> Monolayer Grain Boundary Structures</a:t>
            </a:r>
          </a:p>
          <a:p>
            <a:pPr algn="just"/>
            <a:r>
              <a:rPr lang="en-US" dirty="0"/>
              <a:t>Welcome to </a:t>
            </a:r>
            <a:r>
              <a:rPr lang="en-US" b="1" i="1" dirty="0" err="1"/>
              <a:t>TMDGen</a:t>
            </a:r>
            <a:r>
              <a:rPr lang="en-US" dirty="0"/>
              <a:t>, a software for 2D TMDC materials science research, Designed by Nuruzzaman Sakib and Kasra Momeni.</a:t>
            </a:r>
          </a:p>
          <a:p>
            <a:pPr algn="just"/>
            <a:r>
              <a:rPr lang="en-US" b="1" i="1" dirty="0" err="1"/>
              <a:t>TMDGen</a:t>
            </a:r>
            <a:r>
              <a:rPr lang="en-US" dirty="0"/>
              <a:t> empowers scientists and engineers to explore the fascinating world of WSe</a:t>
            </a:r>
            <a:r>
              <a:rPr lang="en-US" baseline="-25000" dirty="0"/>
              <a:t>2</a:t>
            </a:r>
            <a:r>
              <a:rPr lang="en-US" dirty="0"/>
              <a:t> monolayer grain boundary structures with unparalleled ease and precision. This innovative software utilizes computational techniques to create highly realistic and customizable simulations, offering an invaluable platform for studying the behavior and properties of these essential materials.</a:t>
            </a:r>
          </a:p>
          <a:p>
            <a:pPr algn="just"/>
            <a:r>
              <a:rPr lang="en-US" dirty="0"/>
              <a:t>Whether you are a seasoned researcher or a budding enthusiast, </a:t>
            </a:r>
            <a:r>
              <a:rPr lang="en-US" b="1" i="1" dirty="0" err="1"/>
              <a:t>TMDGen</a:t>
            </a:r>
            <a:r>
              <a:rPr lang="en-US" dirty="0"/>
              <a:t> can help you generating complex WSe</a:t>
            </a:r>
            <a:r>
              <a:rPr lang="en-US" baseline="-25000" dirty="0"/>
              <a:t>2</a:t>
            </a:r>
            <a:r>
              <a:rPr lang="en-US" dirty="0"/>
              <a:t> monolayer grain boundary structures, accelerating scientific discovery and advancing our understanding of these remarkable materials.</a:t>
            </a:r>
          </a:p>
        </p:txBody>
      </p:sp>
      <p:sp>
        <p:nvSpPr>
          <p:cNvPr id="4" name="Footer Placeholder 3">
            <a:extLst>
              <a:ext uri="{FF2B5EF4-FFF2-40B4-BE49-F238E27FC236}">
                <a16:creationId xmlns:a16="http://schemas.microsoft.com/office/drawing/2014/main" id="{CBE4952A-4958-4C09-A113-A0170D00FF69}"/>
              </a:ext>
            </a:extLst>
          </p:cNvPr>
          <p:cNvSpPr>
            <a:spLocks noGrp="1"/>
          </p:cNvSpPr>
          <p:nvPr>
            <p:ph type="ftr" sz="quarter" idx="11"/>
          </p:nvPr>
        </p:nvSpPr>
        <p:spPr/>
        <p:txBody>
          <a:bodyPr/>
          <a:lstStyle/>
          <a:p>
            <a:r>
              <a:rPr lang="en-US" b="1">
                <a:latin typeface="Cooper Black" charset="0"/>
                <a:ea typeface="Cooper Black" charset="0"/>
                <a:cs typeface="Cooper Black" charset="0"/>
              </a:rPr>
              <a:t>AdHiMad Lab</a:t>
            </a:r>
            <a:endParaRPr lang="en-US" dirty="0"/>
          </a:p>
        </p:txBody>
      </p:sp>
      <p:sp>
        <p:nvSpPr>
          <p:cNvPr id="5" name="Slide Number Placeholder 4">
            <a:extLst>
              <a:ext uri="{FF2B5EF4-FFF2-40B4-BE49-F238E27FC236}">
                <a16:creationId xmlns:a16="http://schemas.microsoft.com/office/drawing/2014/main" id="{89FC7C21-76F2-489B-83F5-E38B286427E1}"/>
              </a:ext>
            </a:extLst>
          </p:cNvPr>
          <p:cNvSpPr>
            <a:spLocks noGrp="1"/>
          </p:cNvSpPr>
          <p:nvPr>
            <p:ph type="sldNum" sz="quarter" idx="12"/>
          </p:nvPr>
        </p:nvSpPr>
        <p:spPr/>
        <p:txBody>
          <a:bodyPr/>
          <a:lstStyle/>
          <a:p>
            <a:fld id="{FC479A02-7583-0A4C-B996-8A3A8D1BCEA6}" type="slidenum">
              <a:rPr lang="en-US" smtClean="0"/>
              <a:t>2</a:t>
            </a:fld>
            <a:endParaRPr lang="en-US"/>
          </a:p>
        </p:txBody>
      </p:sp>
    </p:spTree>
    <p:extLst>
      <p:ext uri="{BB962C8B-B14F-4D97-AF65-F5344CB8AC3E}">
        <p14:creationId xmlns:p14="http://schemas.microsoft.com/office/powerpoint/2010/main" val="3594755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930E-5BEB-4D92-84A5-B14D7BD0E4E2}"/>
              </a:ext>
            </a:extLst>
          </p:cNvPr>
          <p:cNvSpPr>
            <a:spLocks noGrp="1"/>
          </p:cNvSpPr>
          <p:nvPr>
            <p:ph type="title"/>
          </p:nvPr>
        </p:nvSpPr>
        <p:spPr/>
        <p:txBody>
          <a:bodyPr/>
          <a:lstStyle/>
          <a:p>
            <a:r>
              <a:rPr lang="en-US" dirty="0" err="1"/>
              <a:t>TMDGen</a:t>
            </a:r>
            <a:endParaRPr lang="en-US" dirty="0"/>
          </a:p>
        </p:txBody>
      </p:sp>
      <p:sp>
        <p:nvSpPr>
          <p:cNvPr id="3" name="Content Placeholder 2">
            <a:extLst>
              <a:ext uri="{FF2B5EF4-FFF2-40B4-BE49-F238E27FC236}">
                <a16:creationId xmlns:a16="http://schemas.microsoft.com/office/drawing/2014/main" id="{E2345B60-7024-48D2-8CD1-A7C52057DC22}"/>
              </a:ext>
            </a:extLst>
          </p:cNvPr>
          <p:cNvSpPr>
            <a:spLocks noGrp="1"/>
          </p:cNvSpPr>
          <p:nvPr>
            <p:ph idx="1"/>
          </p:nvPr>
        </p:nvSpPr>
        <p:spPr/>
        <p:txBody>
          <a:bodyPr>
            <a:normAutofit/>
          </a:bodyPr>
          <a:lstStyle/>
          <a:p>
            <a:r>
              <a:rPr lang="en-US" sz="1400" dirty="0"/>
              <a:t>Readme.txt</a:t>
            </a:r>
          </a:p>
          <a:p>
            <a:pPr marL="0" indent="0">
              <a:buNone/>
            </a:pPr>
            <a:r>
              <a:rPr lang="en-US" sz="1400" b="1" dirty="0"/>
              <a:t>Installation:</a:t>
            </a:r>
          </a:p>
          <a:p>
            <a:r>
              <a:rPr lang="en-US" sz="1400" dirty="0"/>
              <a:t>First run "python3 setup.py </a:t>
            </a:r>
            <a:r>
              <a:rPr lang="en-US" sz="1400" dirty="0" err="1"/>
              <a:t>build_ext</a:t>
            </a:r>
            <a:r>
              <a:rPr lang="en-US" sz="1400" dirty="0"/>
              <a:t> --</a:t>
            </a:r>
            <a:r>
              <a:rPr lang="en-US" sz="1400" dirty="0" err="1"/>
              <a:t>inplace</a:t>
            </a:r>
            <a:r>
              <a:rPr lang="en-US" sz="1400" dirty="0"/>
              <a:t>" in a terminal with "Codes" directory as current directory to create the _</a:t>
            </a:r>
            <a:r>
              <a:rPr lang="en-US" sz="1400" dirty="0" err="1"/>
              <a:t>cGBUtils</a:t>
            </a:r>
            <a:r>
              <a:rPr lang="en-US" sz="1400" dirty="0"/>
              <a:t> module created by </a:t>
            </a:r>
            <a:r>
              <a:rPr lang="en-US" sz="1400" dirty="0" err="1"/>
              <a:t>Ashivni</a:t>
            </a:r>
            <a:r>
              <a:rPr lang="en-US" sz="1400" dirty="0"/>
              <a:t> </a:t>
            </a:r>
            <a:r>
              <a:rPr lang="en-US" sz="1400" dirty="0" err="1"/>
              <a:t>Shekhawat</a:t>
            </a:r>
            <a:r>
              <a:rPr lang="en-US" sz="1400" dirty="0"/>
              <a:t> et al. Cite as - "Large-scale experimental and theoretical study of graphene grain boundary structures, Colin </a:t>
            </a:r>
            <a:r>
              <a:rPr lang="en-US" sz="1400" dirty="0" err="1"/>
              <a:t>Ophus</a:t>
            </a:r>
            <a:r>
              <a:rPr lang="en-US" sz="1400" dirty="0"/>
              <a:t>, </a:t>
            </a:r>
            <a:r>
              <a:rPr lang="en-US" sz="1400" dirty="0" err="1"/>
              <a:t>Ashivni</a:t>
            </a:r>
            <a:r>
              <a:rPr lang="en-US" sz="1400" dirty="0"/>
              <a:t> </a:t>
            </a:r>
            <a:r>
              <a:rPr lang="en-US" sz="1400" dirty="0" err="1"/>
              <a:t>Shekhawat</a:t>
            </a:r>
            <a:r>
              <a:rPr lang="en-US" sz="1400" dirty="0"/>
              <a:t>, Haider Rasool, and Alex </a:t>
            </a:r>
            <a:r>
              <a:rPr lang="en-US" sz="1400" dirty="0" err="1"/>
              <a:t>Zettl</a:t>
            </a:r>
            <a:r>
              <a:rPr lang="en-US" sz="1400" dirty="0"/>
              <a:t>, Phys. Rev. B 92, 205402“</a:t>
            </a:r>
          </a:p>
          <a:p>
            <a:pPr marL="0" indent="0">
              <a:buNone/>
            </a:pPr>
            <a:r>
              <a:rPr lang="en-US" sz="1400" b="1" dirty="0"/>
              <a:t>Prerequisites:</a:t>
            </a:r>
          </a:p>
          <a:p>
            <a:pPr marL="514350" indent="-514350">
              <a:buFont typeface="+mj-lt"/>
              <a:buAutoNum type="arabicPeriod"/>
            </a:pPr>
            <a:r>
              <a:rPr lang="en-US" sz="1400" dirty="0"/>
              <a:t>Install NumPy (pip3 install </a:t>
            </a:r>
            <a:r>
              <a:rPr lang="en-US" sz="1400" dirty="0" err="1"/>
              <a:t>numpy</a:t>
            </a:r>
            <a:r>
              <a:rPr lang="en-US" sz="1400" dirty="0"/>
              <a:t>)</a:t>
            </a:r>
          </a:p>
          <a:p>
            <a:pPr marL="514350" indent="-514350">
              <a:buFont typeface="+mj-lt"/>
              <a:buAutoNum type="arabicPeriod"/>
            </a:pPr>
            <a:r>
              <a:rPr lang="en-US" sz="1400" dirty="0"/>
              <a:t>Install ASE  (pip3 install </a:t>
            </a:r>
            <a:r>
              <a:rPr lang="en-US" sz="1400" dirty="0" err="1"/>
              <a:t>ase</a:t>
            </a:r>
            <a:r>
              <a:rPr lang="en-US" sz="1400" dirty="0"/>
              <a:t>)</a:t>
            </a:r>
          </a:p>
          <a:p>
            <a:pPr marL="514350" indent="-514350">
              <a:buFont typeface="+mj-lt"/>
              <a:buAutoNum type="arabicPeriod"/>
            </a:pPr>
            <a:r>
              <a:rPr lang="en-US" sz="1400" dirty="0"/>
              <a:t>Install </a:t>
            </a:r>
            <a:r>
              <a:rPr lang="en-US" sz="1400" dirty="0" err="1"/>
              <a:t>ovito</a:t>
            </a:r>
            <a:r>
              <a:rPr lang="en-US" sz="1400" dirty="0"/>
              <a:t> using (pip3 install </a:t>
            </a:r>
            <a:r>
              <a:rPr lang="en-US" sz="1400" dirty="0" err="1"/>
              <a:t>ovito</a:t>
            </a:r>
            <a:r>
              <a:rPr lang="en-US" sz="1400" dirty="0"/>
              <a:t>)</a:t>
            </a:r>
          </a:p>
          <a:p>
            <a:pPr marL="514350" indent="-514350">
              <a:buFont typeface="+mj-lt"/>
              <a:buAutoNum type="arabicPeriod"/>
            </a:pPr>
            <a:r>
              <a:rPr lang="en-US" sz="1400" dirty="0"/>
              <a:t>Install LAMMPS (See LAMMPS website on how to install)</a:t>
            </a:r>
          </a:p>
          <a:p>
            <a:pPr marL="0" indent="0">
              <a:buNone/>
            </a:pPr>
            <a:r>
              <a:rPr lang="en-US" sz="1400" b="1" dirty="0"/>
              <a:t>Instruction for use:</a:t>
            </a:r>
          </a:p>
          <a:p>
            <a:pPr marL="514350" indent="-514350">
              <a:buFont typeface="+mj-lt"/>
              <a:buAutoNum type="arabicPeriod"/>
            </a:pPr>
            <a:r>
              <a:rPr lang="en-US" sz="1400" dirty="0"/>
              <a:t>Change the bash file "TMDGen.sh" according to the Grain Boundary </a:t>
            </a:r>
            <a:r>
              <a:rPr lang="en-US" sz="1400" dirty="0" err="1"/>
              <a:t>misorientaion</a:t>
            </a:r>
            <a:r>
              <a:rPr lang="en-US" sz="1400" dirty="0"/>
              <a:t> angle. Just change the "r1","r2", "</a:t>
            </a:r>
            <a:r>
              <a:rPr lang="en-US" sz="1400" dirty="0" err="1"/>
              <a:t>cell_width</a:t>
            </a:r>
            <a:r>
              <a:rPr lang="en-US" sz="1400" dirty="0"/>
              <a:t>".</a:t>
            </a:r>
          </a:p>
          <a:p>
            <a:pPr marL="514350" indent="-514350">
              <a:buFont typeface="+mj-lt"/>
              <a:buAutoNum type="arabicPeriod"/>
            </a:pPr>
            <a:r>
              <a:rPr lang="en-US" sz="1400" dirty="0"/>
              <a:t>run bash TMDGen.sh from outside of Codes directory. Do not change the folder and </a:t>
            </a:r>
            <a:r>
              <a:rPr lang="en-US" sz="1400" dirty="0" err="1"/>
              <a:t>TMDGen</a:t>
            </a:r>
            <a:r>
              <a:rPr lang="en-US" sz="1400" dirty="0"/>
              <a:t> location. If you do, then change the bash script as well to accommodate the change.</a:t>
            </a:r>
          </a:p>
          <a:p>
            <a:pPr marL="514350" indent="-514350">
              <a:buFont typeface="+mj-lt"/>
              <a:buAutoNum type="arabicPeriod"/>
            </a:pPr>
            <a:r>
              <a:rPr lang="en-US" sz="1400" dirty="0"/>
              <a:t>After that, you need to run energy minimization of the created TMDC GB structure before use in LAMMPS calculation.</a:t>
            </a:r>
          </a:p>
        </p:txBody>
      </p:sp>
      <p:sp>
        <p:nvSpPr>
          <p:cNvPr id="4" name="Footer Placeholder 3">
            <a:extLst>
              <a:ext uri="{FF2B5EF4-FFF2-40B4-BE49-F238E27FC236}">
                <a16:creationId xmlns:a16="http://schemas.microsoft.com/office/drawing/2014/main" id="{FDB3B07F-FA90-4666-A247-1A16958795D5}"/>
              </a:ext>
            </a:extLst>
          </p:cNvPr>
          <p:cNvSpPr>
            <a:spLocks noGrp="1"/>
          </p:cNvSpPr>
          <p:nvPr>
            <p:ph type="ftr" sz="quarter" idx="11"/>
          </p:nvPr>
        </p:nvSpPr>
        <p:spPr/>
        <p:txBody>
          <a:bodyPr/>
          <a:lstStyle/>
          <a:p>
            <a:r>
              <a:rPr lang="en-US" b="1">
                <a:latin typeface="Cooper Black" charset="0"/>
                <a:ea typeface="Cooper Black" charset="0"/>
                <a:cs typeface="Cooper Black" charset="0"/>
              </a:rPr>
              <a:t>AdHiMad Lab</a:t>
            </a:r>
            <a:endParaRPr lang="en-US" dirty="0"/>
          </a:p>
        </p:txBody>
      </p:sp>
      <p:sp>
        <p:nvSpPr>
          <p:cNvPr id="5" name="Slide Number Placeholder 4">
            <a:extLst>
              <a:ext uri="{FF2B5EF4-FFF2-40B4-BE49-F238E27FC236}">
                <a16:creationId xmlns:a16="http://schemas.microsoft.com/office/drawing/2014/main" id="{54EF29EE-C6CB-4696-A459-34AD38CB26A4}"/>
              </a:ext>
            </a:extLst>
          </p:cNvPr>
          <p:cNvSpPr>
            <a:spLocks noGrp="1"/>
          </p:cNvSpPr>
          <p:nvPr>
            <p:ph type="sldNum" sz="quarter" idx="12"/>
          </p:nvPr>
        </p:nvSpPr>
        <p:spPr/>
        <p:txBody>
          <a:bodyPr/>
          <a:lstStyle/>
          <a:p>
            <a:fld id="{FC479A02-7583-0A4C-B996-8A3A8D1BCEA6}" type="slidenum">
              <a:rPr lang="en-US" smtClean="0"/>
              <a:t>3</a:t>
            </a:fld>
            <a:endParaRPr lang="en-US"/>
          </a:p>
        </p:txBody>
      </p:sp>
    </p:spTree>
    <p:extLst>
      <p:ext uri="{BB962C8B-B14F-4D97-AF65-F5344CB8AC3E}">
        <p14:creationId xmlns:p14="http://schemas.microsoft.com/office/powerpoint/2010/main" val="1753173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34863-B1E2-47BD-95CF-097A6B109FAA}"/>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DDE6F09D-BB7C-4877-A3F5-DFEC86A9671A}"/>
              </a:ext>
            </a:extLst>
          </p:cNvPr>
          <p:cNvSpPr>
            <a:spLocks noGrp="1"/>
          </p:cNvSpPr>
          <p:nvPr>
            <p:ph idx="1"/>
          </p:nvPr>
        </p:nvSpPr>
        <p:spPr/>
        <p:txBody>
          <a:bodyPr/>
          <a:lstStyle/>
          <a:p>
            <a:r>
              <a:rPr lang="en-US" dirty="0"/>
              <a:t>_</a:t>
            </a:r>
            <a:r>
              <a:rPr lang="en-US" dirty="0" err="1"/>
              <a:t>cGBUtils.c</a:t>
            </a:r>
            <a:endParaRPr lang="en-US" dirty="0"/>
          </a:p>
          <a:p>
            <a:r>
              <a:rPr lang="en-US" dirty="0"/>
              <a:t>setup.py</a:t>
            </a:r>
          </a:p>
          <a:p>
            <a:r>
              <a:rPr lang="en-US" dirty="0"/>
              <a:t>grainBdr.py</a:t>
            </a:r>
          </a:p>
          <a:p>
            <a:r>
              <a:rPr lang="en-US" dirty="0"/>
              <a:t>structure_gen.py</a:t>
            </a:r>
          </a:p>
          <a:p>
            <a:pPr algn="just"/>
            <a:r>
              <a:rPr lang="en-US" sz="2000" dirty="0"/>
              <a:t>This code can generate the GBs for graphene with pentagon-heptagons only. Which is the common defect type in GBs found in CVD grown graphene structures.</a:t>
            </a:r>
          </a:p>
          <a:p>
            <a:r>
              <a:rPr lang="en-US" dirty="0"/>
              <a:t>For better understanding of this portion of code, please read - "Large-scale experimental and theoretical study of graphene grain boundary structures, Colin </a:t>
            </a:r>
            <a:r>
              <a:rPr lang="en-US" dirty="0" err="1"/>
              <a:t>Ophus</a:t>
            </a:r>
            <a:r>
              <a:rPr lang="en-US" dirty="0"/>
              <a:t>, </a:t>
            </a:r>
            <a:r>
              <a:rPr lang="en-US" dirty="0" err="1"/>
              <a:t>Ashivni</a:t>
            </a:r>
            <a:r>
              <a:rPr lang="en-US" dirty="0"/>
              <a:t> </a:t>
            </a:r>
            <a:r>
              <a:rPr lang="en-US" dirty="0" err="1"/>
              <a:t>Shekhawat</a:t>
            </a:r>
            <a:r>
              <a:rPr lang="en-US" dirty="0"/>
              <a:t>, Haider Rasool, and Alex </a:t>
            </a:r>
            <a:r>
              <a:rPr lang="en-US" dirty="0" err="1"/>
              <a:t>Zettl</a:t>
            </a:r>
            <a:r>
              <a:rPr lang="en-US" dirty="0"/>
              <a:t>, Phys. Rev. B 92, 205402"</a:t>
            </a:r>
          </a:p>
        </p:txBody>
      </p:sp>
      <p:sp>
        <p:nvSpPr>
          <p:cNvPr id="4" name="Footer Placeholder 3">
            <a:extLst>
              <a:ext uri="{FF2B5EF4-FFF2-40B4-BE49-F238E27FC236}">
                <a16:creationId xmlns:a16="http://schemas.microsoft.com/office/drawing/2014/main" id="{A8F4541E-7E2B-4BE1-A9F9-3B5081F8549B}"/>
              </a:ext>
            </a:extLst>
          </p:cNvPr>
          <p:cNvSpPr>
            <a:spLocks noGrp="1"/>
          </p:cNvSpPr>
          <p:nvPr>
            <p:ph type="ftr" sz="quarter" idx="11"/>
          </p:nvPr>
        </p:nvSpPr>
        <p:spPr/>
        <p:txBody>
          <a:bodyPr/>
          <a:lstStyle/>
          <a:p>
            <a:r>
              <a:rPr lang="en-US" b="1">
                <a:latin typeface="Cooper Black" charset="0"/>
                <a:ea typeface="Cooper Black" charset="0"/>
                <a:cs typeface="Cooper Black" charset="0"/>
              </a:rPr>
              <a:t>AdHiMad Lab</a:t>
            </a:r>
            <a:endParaRPr lang="en-US" dirty="0"/>
          </a:p>
        </p:txBody>
      </p:sp>
      <p:sp>
        <p:nvSpPr>
          <p:cNvPr id="5" name="Slide Number Placeholder 4">
            <a:extLst>
              <a:ext uri="{FF2B5EF4-FFF2-40B4-BE49-F238E27FC236}">
                <a16:creationId xmlns:a16="http://schemas.microsoft.com/office/drawing/2014/main" id="{FC9C5DAE-6B02-44C6-B44B-97245F6712D9}"/>
              </a:ext>
            </a:extLst>
          </p:cNvPr>
          <p:cNvSpPr>
            <a:spLocks noGrp="1"/>
          </p:cNvSpPr>
          <p:nvPr>
            <p:ph type="sldNum" sz="quarter" idx="12"/>
          </p:nvPr>
        </p:nvSpPr>
        <p:spPr/>
        <p:txBody>
          <a:bodyPr/>
          <a:lstStyle/>
          <a:p>
            <a:fld id="{FC479A02-7583-0A4C-B996-8A3A8D1BCEA6}" type="slidenum">
              <a:rPr lang="en-US" smtClean="0"/>
              <a:t>4</a:t>
            </a:fld>
            <a:endParaRPr lang="en-US"/>
          </a:p>
        </p:txBody>
      </p:sp>
    </p:spTree>
    <p:extLst>
      <p:ext uri="{BB962C8B-B14F-4D97-AF65-F5344CB8AC3E}">
        <p14:creationId xmlns:p14="http://schemas.microsoft.com/office/powerpoint/2010/main" val="36771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of a hexagon pattern&#10;&#10;Description automatically generated">
            <a:extLst>
              <a:ext uri="{FF2B5EF4-FFF2-40B4-BE49-F238E27FC236}">
                <a16:creationId xmlns:a16="http://schemas.microsoft.com/office/drawing/2014/main" id="{C9B3F135-301D-40D0-B852-525D551AFC08}"/>
              </a:ext>
            </a:extLst>
          </p:cNvPr>
          <p:cNvPicPr>
            <a:picLocks noChangeAspect="1"/>
          </p:cNvPicPr>
          <p:nvPr/>
        </p:nvPicPr>
        <p:blipFill rotWithShape="1">
          <a:blip r:embed="rId3">
            <a:extLst>
              <a:ext uri="{28A0092B-C50C-407E-A947-70E740481C1C}">
                <a14:useLocalDpi xmlns:a14="http://schemas.microsoft.com/office/drawing/2010/main" val="0"/>
              </a:ext>
            </a:extLst>
          </a:blip>
          <a:srcRect l="33478" r="34564"/>
          <a:stretch/>
        </p:blipFill>
        <p:spPr>
          <a:xfrm>
            <a:off x="6560669" y="3525351"/>
            <a:ext cx="1126006" cy="2642616"/>
          </a:xfrm>
          <a:prstGeom prst="rect">
            <a:avLst/>
          </a:prstGeom>
        </p:spPr>
      </p:pic>
      <p:sp>
        <p:nvSpPr>
          <p:cNvPr id="2" name="Title 1">
            <a:extLst>
              <a:ext uri="{FF2B5EF4-FFF2-40B4-BE49-F238E27FC236}">
                <a16:creationId xmlns:a16="http://schemas.microsoft.com/office/drawing/2014/main" id="{F8DBCE5D-62C5-417B-AE92-EAB0F39C2A84}"/>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99F2AEA5-0642-44D4-B5B3-9F09E895076D}"/>
              </a:ext>
            </a:extLst>
          </p:cNvPr>
          <p:cNvSpPr>
            <a:spLocks noGrp="1"/>
          </p:cNvSpPr>
          <p:nvPr>
            <p:ph idx="1"/>
          </p:nvPr>
        </p:nvSpPr>
        <p:spPr>
          <a:xfrm>
            <a:off x="838200" y="1347258"/>
            <a:ext cx="4398818" cy="4651375"/>
          </a:xfrm>
        </p:spPr>
        <p:txBody>
          <a:bodyPr>
            <a:noAutofit/>
          </a:bodyPr>
          <a:lstStyle/>
          <a:p>
            <a:r>
              <a:rPr lang="en-US" sz="1300" dirty="0" err="1"/>
              <a:t>in.min</a:t>
            </a:r>
            <a:endParaRPr lang="en-US" sz="1300" dirty="0"/>
          </a:p>
          <a:p>
            <a:pPr lvl="1"/>
            <a:r>
              <a:rPr lang="en-US" sz="1300" dirty="0"/>
              <a:t>This is simple lammps script to minimize the structure generated by </a:t>
            </a:r>
            <a:r>
              <a:rPr lang="en-US" sz="1300" dirty="0" err="1"/>
              <a:t>Ashivni</a:t>
            </a:r>
            <a:r>
              <a:rPr lang="en-US" sz="1300" dirty="0"/>
              <a:t> et al.</a:t>
            </a:r>
          </a:p>
          <a:p>
            <a:r>
              <a:rPr lang="en-US" sz="1300" dirty="0"/>
              <a:t>ovito_data_extract.py</a:t>
            </a:r>
          </a:p>
          <a:p>
            <a:pPr lvl="1"/>
            <a:r>
              <a:rPr lang="en-US" sz="1300" dirty="0"/>
              <a:t>This python code imports </a:t>
            </a:r>
            <a:r>
              <a:rPr lang="en-US" sz="1300" dirty="0" err="1"/>
              <a:t>ovito</a:t>
            </a:r>
            <a:r>
              <a:rPr lang="en-US" sz="1300" dirty="0"/>
              <a:t> python library and can generate neighbor list based on cutoff distance (here we used 1.60 A for graphene).</a:t>
            </a:r>
          </a:p>
          <a:p>
            <a:r>
              <a:rPr lang="en-US" sz="1300" dirty="0"/>
              <a:t>identify_penta_hepta.py</a:t>
            </a:r>
          </a:p>
          <a:p>
            <a:pPr lvl="1"/>
            <a:r>
              <a:rPr lang="en-US" sz="1300" dirty="0"/>
              <a:t>Based on the neighbor list, this code can find the pentagons and hexagons of the structure.</a:t>
            </a:r>
          </a:p>
          <a:p>
            <a:pPr lvl="1"/>
            <a:r>
              <a:rPr lang="en-US" sz="1300" dirty="0"/>
              <a:t>It also identify the pentagon-heptagon pair in the GB.</a:t>
            </a:r>
          </a:p>
          <a:p>
            <a:r>
              <a:rPr lang="en-US" sz="1300" dirty="0"/>
              <a:t>shared_edge.py</a:t>
            </a:r>
          </a:p>
          <a:p>
            <a:pPr lvl="1"/>
            <a:r>
              <a:rPr lang="en-US" sz="1300" dirty="0"/>
              <a:t>This code can identify the shared edge between a pentagon-heptagon pair and output the atom IDs of the shared edge in the “same_atom.txt” file.</a:t>
            </a:r>
          </a:p>
          <a:p>
            <a:r>
              <a:rPr lang="en-US" sz="1300" dirty="0"/>
              <a:t>type_assign.py</a:t>
            </a:r>
          </a:p>
          <a:p>
            <a:pPr lvl="1"/>
            <a:r>
              <a:rPr lang="en-US" sz="1300" dirty="0"/>
              <a:t>This code can assign the type of atoms for the coordinates and can transform the mono-layer-mono-atomic graphene GB structure to tri-layer-bi-atomic WSe</a:t>
            </a:r>
            <a:r>
              <a:rPr lang="en-US" sz="1300" baseline="-25000" dirty="0"/>
              <a:t>2</a:t>
            </a:r>
            <a:r>
              <a:rPr lang="en-US" sz="1300" dirty="0"/>
              <a:t> GB structure.</a:t>
            </a:r>
          </a:p>
        </p:txBody>
      </p:sp>
      <p:sp>
        <p:nvSpPr>
          <p:cNvPr id="4" name="Footer Placeholder 3">
            <a:extLst>
              <a:ext uri="{FF2B5EF4-FFF2-40B4-BE49-F238E27FC236}">
                <a16:creationId xmlns:a16="http://schemas.microsoft.com/office/drawing/2014/main" id="{FD7C7450-8DE7-4A2D-9A1D-C1CB0CD91662}"/>
              </a:ext>
            </a:extLst>
          </p:cNvPr>
          <p:cNvSpPr>
            <a:spLocks noGrp="1"/>
          </p:cNvSpPr>
          <p:nvPr>
            <p:ph type="ftr" sz="quarter" idx="11"/>
          </p:nvPr>
        </p:nvSpPr>
        <p:spPr/>
        <p:txBody>
          <a:bodyPr/>
          <a:lstStyle/>
          <a:p>
            <a:r>
              <a:rPr lang="en-US" b="1">
                <a:latin typeface="Cooper Black" charset="0"/>
                <a:ea typeface="Cooper Black" charset="0"/>
                <a:cs typeface="Cooper Black" charset="0"/>
              </a:rPr>
              <a:t>AdHiMad Lab</a:t>
            </a:r>
            <a:endParaRPr lang="en-US" dirty="0"/>
          </a:p>
        </p:txBody>
      </p:sp>
      <p:sp>
        <p:nvSpPr>
          <p:cNvPr id="5" name="Slide Number Placeholder 4">
            <a:extLst>
              <a:ext uri="{FF2B5EF4-FFF2-40B4-BE49-F238E27FC236}">
                <a16:creationId xmlns:a16="http://schemas.microsoft.com/office/drawing/2014/main" id="{2E863356-0848-4ECE-B2CD-A4D324B4125E}"/>
              </a:ext>
            </a:extLst>
          </p:cNvPr>
          <p:cNvSpPr>
            <a:spLocks noGrp="1"/>
          </p:cNvSpPr>
          <p:nvPr>
            <p:ph type="sldNum" sz="quarter" idx="12"/>
          </p:nvPr>
        </p:nvSpPr>
        <p:spPr/>
        <p:txBody>
          <a:bodyPr/>
          <a:lstStyle/>
          <a:p>
            <a:fld id="{FC479A02-7583-0A4C-B996-8A3A8D1BCEA6}" type="slidenum">
              <a:rPr lang="en-US" smtClean="0"/>
              <a:t>5</a:t>
            </a:fld>
            <a:endParaRPr lang="en-US"/>
          </a:p>
        </p:txBody>
      </p:sp>
      <p:pic>
        <p:nvPicPr>
          <p:cNvPr id="7" name="Picture 6" descr="A graph of a graph of a hexagon&#10;&#10;Description automatically generated">
            <a:extLst>
              <a:ext uri="{FF2B5EF4-FFF2-40B4-BE49-F238E27FC236}">
                <a16:creationId xmlns:a16="http://schemas.microsoft.com/office/drawing/2014/main" id="{984E4850-146D-4EBB-B29D-273D28910E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8510" y="3515826"/>
            <a:ext cx="3523488" cy="2642616"/>
          </a:xfrm>
          <a:prstGeom prst="rect">
            <a:avLst/>
          </a:prstGeom>
        </p:spPr>
      </p:pic>
      <p:pic>
        <p:nvPicPr>
          <p:cNvPr id="9" name="Picture 8" descr="A graph of a number of hexagons&#10;&#10;Description automatically generated">
            <a:extLst>
              <a:ext uri="{FF2B5EF4-FFF2-40B4-BE49-F238E27FC236}">
                <a16:creationId xmlns:a16="http://schemas.microsoft.com/office/drawing/2014/main" id="{D2BADDC7-4E10-41C9-882C-B758213C6F30}"/>
              </a:ext>
            </a:extLst>
          </p:cNvPr>
          <p:cNvPicPr>
            <a:picLocks noChangeAspect="1"/>
          </p:cNvPicPr>
          <p:nvPr/>
        </p:nvPicPr>
        <p:blipFill rotWithShape="1">
          <a:blip r:embed="rId5">
            <a:extLst>
              <a:ext uri="{28A0092B-C50C-407E-A947-70E740481C1C}">
                <a14:useLocalDpi xmlns:a14="http://schemas.microsoft.com/office/drawing/2010/main" val="0"/>
              </a:ext>
            </a:extLst>
          </a:blip>
          <a:srcRect l="33618" r="34397"/>
          <a:stretch/>
        </p:blipFill>
        <p:spPr>
          <a:xfrm>
            <a:off x="6566549" y="1193991"/>
            <a:ext cx="1126006" cy="2640344"/>
          </a:xfrm>
          <a:prstGeom prst="rect">
            <a:avLst/>
          </a:prstGeom>
        </p:spPr>
      </p:pic>
      <p:pic>
        <p:nvPicPr>
          <p:cNvPr id="13" name="Picture 12" descr="A graph of a graph of a graph&#10;&#10;Description automatically generated">
            <a:extLst>
              <a:ext uri="{FF2B5EF4-FFF2-40B4-BE49-F238E27FC236}">
                <a16:creationId xmlns:a16="http://schemas.microsoft.com/office/drawing/2014/main" id="{58881596-A429-4AB9-AE35-6638D668B5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79460" y="1169297"/>
            <a:ext cx="3523488" cy="2642616"/>
          </a:xfrm>
          <a:prstGeom prst="rect">
            <a:avLst/>
          </a:prstGeom>
        </p:spPr>
      </p:pic>
    </p:spTree>
    <p:extLst>
      <p:ext uri="{BB962C8B-B14F-4D97-AF65-F5344CB8AC3E}">
        <p14:creationId xmlns:p14="http://schemas.microsoft.com/office/powerpoint/2010/main" val="3829776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1B7E-4C8D-4ABA-878D-373399094D0A}"/>
              </a:ext>
            </a:extLst>
          </p:cNvPr>
          <p:cNvSpPr>
            <a:spLocks noGrp="1"/>
          </p:cNvSpPr>
          <p:nvPr>
            <p:ph type="title"/>
          </p:nvPr>
        </p:nvSpPr>
        <p:spPr/>
        <p:txBody>
          <a:bodyPr/>
          <a:lstStyle/>
          <a:p>
            <a:r>
              <a:rPr lang="en-US" dirty="0"/>
              <a:t>Output</a:t>
            </a:r>
          </a:p>
        </p:txBody>
      </p:sp>
      <p:sp>
        <p:nvSpPr>
          <p:cNvPr id="4" name="Footer Placeholder 3">
            <a:extLst>
              <a:ext uri="{FF2B5EF4-FFF2-40B4-BE49-F238E27FC236}">
                <a16:creationId xmlns:a16="http://schemas.microsoft.com/office/drawing/2014/main" id="{A2050C9C-4635-4528-A296-8B7028E9F227}"/>
              </a:ext>
            </a:extLst>
          </p:cNvPr>
          <p:cNvSpPr>
            <a:spLocks noGrp="1"/>
          </p:cNvSpPr>
          <p:nvPr>
            <p:ph type="ftr" sz="quarter" idx="11"/>
          </p:nvPr>
        </p:nvSpPr>
        <p:spPr/>
        <p:txBody>
          <a:bodyPr/>
          <a:lstStyle/>
          <a:p>
            <a:r>
              <a:rPr lang="en-US" b="1">
                <a:latin typeface="Cooper Black" charset="0"/>
                <a:ea typeface="Cooper Black" charset="0"/>
                <a:cs typeface="Cooper Black" charset="0"/>
              </a:rPr>
              <a:t>AdHiMad Lab</a:t>
            </a:r>
            <a:endParaRPr lang="en-US" dirty="0"/>
          </a:p>
        </p:txBody>
      </p:sp>
      <p:sp>
        <p:nvSpPr>
          <p:cNvPr id="5" name="Slide Number Placeholder 4">
            <a:extLst>
              <a:ext uri="{FF2B5EF4-FFF2-40B4-BE49-F238E27FC236}">
                <a16:creationId xmlns:a16="http://schemas.microsoft.com/office/drawing/2014/main" id="{DDAB94A3-8A07-4295-A0B8-E0A2104C67A7}"/>
              </a:ext>
            </a:extLst>
          </p:cNvPr>
          <p:cNvSpPr>
            <a:spLocks noGrp="1"/>
          </p:cNvSpPr>
          <p:nvPr>
            <p:ph type="sldNum" sz="quarter" idx="12"/>
          </p:nvPr>
        </p:nvSpPr>
        <p:spPr/>
        <p:txBody>
          <a:bodyPr/>
          <a:lstStyle/>
          <a:p>
            <a:fld id="{FC479A02-7583-0A4C-B996-8A3A8D1BCEA6}" type="slidenum">
              <a:rPr lang="en-US" smtClean="0"/>
              <a:t>6</a:t>
            </a:fld>
            <a:endParaRPr lang="en-US"/>
          </a:p>
        </p:txBody>
      </p:sp>
      <p:pic>
        <p:nvPicPr>
          <p:cNvPr id="7" name="Picture 6">
            <a:extLst>
              <a:ext uri="{FF2B5EF4-FFF2-40B4-BE49-F238E27FC236}">
                <a16:creationId xmlns:a16="http://schemas.microsoft.com/office/drawing/2014/main" id="{04AEED76-55A8-4CF8-BFF8-C1C98A36948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241153"/>
            <a:ext cx="4572000" cy="4572000"/>
          </a:xfrm>
          <a:prstGeom prst="rect">
            <a:avLst/>
          </a:prstGeom>
        </p:spPr>
      </p:pic>
      <p:pic>
        <p:nvPicPr>
          <p:cNvPr id="9" name="Picture 8">
            <a:extLst>
              <a:ext uri="{FF2B5EF4-FFF2-40B4-BE49-F238E27FC236}">
                <a16:creationId xmlns:a16="http://schemas.microsoft.com/office/drawing/2014/main" id="{FF412006-5E29-4A57-BE32-CDE8613685C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67500" y="1414850"/>
            <a:ext cx="4231231" cy="4231231"/>
          </a:xfrm>
          <a:prstGeom prst="rect">
            <a:avLst/>
          </a:prstGeom>
        </p:spPr>
      </p:pic>
      <p:cxnSp>
        <p:nvCxnSpPr>
          <p:cNvPr id="11" name="Straight Arrow Connector 10">
            <a:extLst>
              <a:ext uri="{FF2B5EF4-FFF2-40B4-BE49-F238E27FC236}">
                <a16:creationId xmlns:a16="http://schemas.microsoft.com/office/drawing/2014/main" id="{498C05D7-C583-4AA2-9956-CC836D491130}"/>
              </a:ext>
            </a:extLst>
          </p:cNvPr>
          <p:cNvCxnSpPr/>
          <p:nvPr/>
        </p:nvCxnSpPr>
        <p:spPr>
          <a:xfrm>
            <a:off x="3124200" y="4181475"/>
            <a:ext cx="1609725" cy="1634990"/>
          </a:xfrm>
          <a:prstGeom prst="straightConnector1">
            <a:avLst/>
          </a:prstGeom>
          <a:ln w="28575"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D47E0F2F-A2D8-4228-B23A-662CE91AB846}"/>
              </a:ext>
            </a:extLst>
          </p:cNvPr>
          <p:cNvSpPr txBox="1"/>
          <p:nvPr/>
        </p:nvSpPr>
        <p:spPr>
          <a:xfrm>
            <a:off x="4680672" y="5717075"/>
            <a:ext cx="722602" cy="369332"/>
          </a:xfrm>
          <a:prstGeom prst="rect">
            <a:avLst/>
          </a:prstGeom>
          <a:noFill/>
        </p:spPr>
        <p:txBody>
          <a:bodyPr wrap="square" rtlCol="0">
            <a:spAutoFit/>
          </a:bodyPr>
          <a:lstStyle/>
          <a:p>
            <a:r>
              <a:rPr lang="en-US" dirty="0"/>
              <a:t>Se-Se</a:t>
            </a:r>
          </a:p>
        </p:txBody>
      </p:sp>
      <p:cxnSp>
        <p:nvCxnSpPr>
          <p:cNvPr id="13" name="Straight Arrow Connector 12">
            <a:extLst>
              <a:ext uri="{FF2B5EF4-FFF2-40B4-BE49-F238E27FC236}">
                <a16:creationId xmlns:a16="http://schemas.microsoft.com/office/drawing/2014/main" id="{6677067E-9CE4-44A6-AA4D-B2CD4AB3769B}"/>
              </a:ext>
            </a:extLst>
          </p:cNvPr>
          <p:cNvCxnSpPr>
            <a:cxnSpLocks/>
          </p:cNvCxnSpPr>
          <p:nvPr/>
        </p:nvCxnSpPr>
        <p:spPr>
          <a:xfrm flipV="1">
            <a:off x="8573476" y="1414850"/>
            <a:ext cx="1780488" cy="563753"/>
          </a:xfrm>
          <a:prstGeom prst="straightConnector1">
            <a:avLst/>
          </a:prstGeom>
          <a:ln w="28575"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EF65EB1F-E622-4536-89F7-77DA3A99E24E}"/>
              </a:ext>
            </a:extLst>
          </p:cNvPr>
          <p:cNvSpPr txBox="1"/>
          <p:nvPr/>
        </p:nvSpPr>
        <p:spPr>
          <a:xfrm>
            <a:off x="10354973" y="1231917"/>
            <a:ext cx="722602" cy="369332"/>
          </a:xfrm>
          <a:prstGeom prst="rect">
            <a:avLst/>
          </a:prstGeom>
          <a:noFill/>
        </p:spPr>
        <p:txBody>
          <a:bodyPr wrap="square" rtlCol="0">
            <a:spAutoFit/>
          </a:bodyPr>
          <a:lstStyle/>
          <a:p>
            <a:r>
              <a:rPr lang="en-US" dirty="0"/>
              <a:t>Se-Se</a:t>
            </a:r>
          </a:p>
        </p:txBody>
      </p:sp>
      <p:cxnSp>
        <p:nvCxnSpPr>
          <p:cNvPr id="16" name="Straight Arrow Connector 15">
            <a:extLst>
              <a:ext uri="{FF2B5EF4-FFF2-40B4-BE49-F238E27FC236}">
                <a16:creationId xmlns:a16="http://schemas.microsoft.com/office/drawing/2014/main" id="{27271B81-55D8-4B2B-91AF-81D9E5423719}"/>
              </a:ext>
            </a:extLst>
          </p:cNvPr>
          <p:cNvCxnSpPr>
            <a:cxnSpLocks/>
            <a:endCxn id="14" idx="1"/>
          </p:cNvCxnSpPr>
          <p:nvPr/>
        </p:nvCxnSpPr>
        <p:spPr>
          <a:xfrm flipV="1">
            <a:off x="8573476" y="1416583"/>
            <a:ext cx="1781497" cy="2395760"/>
          </a:xfrm>
          <a:prstGeom prst="straightConnector1">
            <a:avLst/>
          </a:prstGeom>
          <a:ln w="28575"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FC160342-912B-404A-BD61-E78BE045B3C0}"/>
              </a:ext>
            </a:extLst>
          </p:cNvPr>
          <p:cNvCxnSpPr>
            <a:cxnSpLocks/>
          </p:cNvCxnSpPr>
          <p:nvPr/>
        </p:nvCxnSpPr>
        <p:spPr>
          <a:xfrm flipH="1" flipV="1">
            <a:off x="6594764" y="1892305"/>
            <a:ext cx="2069143" cy="1003167"/>
          </a:xfrm>
          <a:prstGeom prst="straightConnector1">
            <a:avLst/>
          </a:prstGeom>
          <a:ln w="28575"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77F74184-1B6D-426C-B9E5-7847359BCF8C}"/>
              </a:ext>
            </a:extLst>
          </p:cNvPr>
          <p:cNvCxnSpPr>
            <a:cxnSpLocks/>
          </p:cNvCxnSpPr>
          <p:nvPr/>
        </p:nvCxnSpPr>
        <p:spPr>
          <a:xfrm flipH="1" flipV="1">
            <a:off x="6594764" y="1892305"/>
            <a:ext cx="2001034" cy="2912184"/>
          </a:xfrm>
          <a:prstGeom prst="straightConnector1">
            <a:avLst/>
          </a:prstGeom>
          <a:ln w="28575"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58D6B294-09BC-4876-B638-AF04EBCEB35B}"/>
              </a:ext>
            </a:extLst>
          </p:cNvPr>
          <p:cNvSpPr txBox="1"/>
          <p:nvPr/>
        </p:nvSpPr>
        <p:spPr>
          <a:xfrm>
            <a:off x="6046047" y="1609271"/>
            <a:ext cx="722602" cy="369332"/>
          </a:xfrm>
          <a:prstGeom prst="rect">
            <a:avLst/>
          </a:prstGeom>
          <a:noFill/>
        </p:spPr>
        <p:txBody>
          <a:bodyPr wrap="square" rtlCol="0">
            <a:spAutoFit/>
          </a:bodyPr>
          <a:lstStyle/>
          <a:p>
            <a:r>
              <a:rPr lang="en-US" dirty="0"/>
              <a:t>W-W</a:t>
            </a:r>
          </a:p>
        </p:txBody>
      </p:sp>
      <p:cxnSp>
        <p:nvCxnSpPr>
          <p:cNvPr id="23" name="Straight Arrow Connector 22">
            <a:extLst>
              <a:ext uri="{FF2B5EF4-FFF2-40B4-BE49-F238E27FC236}">
                <a16:creationId xmlns:a16="http://schemas.microsoft.com/office/drawing/2014/main" id="{558A54C9-E015-4A02-9C48-114FB318BA03}"/>
              </a:ext>
            </a:extLst>
          </p:cNvPr>
          <p:cNvCxnSpPr>
            <a:cxnSpLocks/>
          </p:cNvCxnSpPr>
          <p:nvPr/>
        </p:nvCxnSpPr>
        <p:spPr>
          <a:xfrm>
            <a:off x="3124200" y="2351646"/>
            <a:ext cx="1609725" cy="3464819"/>
          </a:xfrm>
          <a:prstGeom prst="straightConnector1">
            <a:avLst/>
          </a:prstGeom>
          <a:ln w="28575"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a:extLst>
              <a:ext uri="{FF2B5EF4-FFF2-40B4-BE49-F238E27FC236}">
                <a16:creationId xmlns:a16="http://schemas.microsoft.com/office/drawing/2014/main" id="{94E4EDE2-88CF-4173-8A50-210829AAA336}"/>
              </a:ext>
            </a:extLst>
          </p:cNvPr>
          <p:cNvCxnSpPr>
            <a:cxnSpLocks/>
          </p:cNvCxnSpPr>
          <p:nvPr/>
        </p:nvCxnSpPr>
        <p:spPr>
          <a:xfrm flipH="1">
            <a:off x="1009469" y="3228948"/>
            <a:ext cx="2207759" cy="1097342"/>
          </a:xfrm>
          <a:prstGeom prst="straightConnector1">
            <a:avLst/>
          </a:prstGeom>
          <a:ln w="28575"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D9228F68-7500-4DB6-9E84-F543F66D90C8}"/>
              </a:ext>
            </a:extLst>
          </p:cNvPr>
          <p:cNvCxnSpPr>
            <a:cxnSpLocks/>
          </p:cNvCxnSpPr>
          <p:nvPr/>
        </p:nvCxnSpPr>
        <p:spPr>
          <a:xfrm>
            <a:off x="1033857" y="4326290"/>
            <a:ext cx="2183371" cy="753710"/>
          </a:xfrm>
          <a:prstGeom prst="straightConnector1">
            <a:avLst/>
          </a:prstGeom>
          <a:ln w="28575" cap="flat" cmpd="sng" algn="ctr">
            <a:solidFill>
              <a:srgbClr val="FF0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1" name="TextBox 30">
            <a:extLst>
              <a:ext uri="{FF2B5EF4-FFF2-40B4-BE49-F238E27FC236}">
                <a16:creationId xmlns:a16="http://schemas.microsoft.com/office/drawing/2014/main" id="{0BF489E9-54FD-4806-8AF5-A218697EC6B6}"/>
              </a:ext>
            </a:extLst>
          </p:cNvPr>
          <p:cNvSpPr txBox="1"/>
          <p:nvPr/>
        </p:nvSpPr>
        <p:spPr>
          <a:xfrm>
            <a:off x="391823" y="4154339"/>
            <a:ext cx="722602" cy="369332"/>
          </a:xfrm>
          <a:prstGeom prst="rect">
            <a:avLst/>
          </a:prstGeom>
          <a:noFill/>
        </p:spPr>
        <p:txBody>
          <a:bodyPr wrap="square" rtlCol="0">
            <a:spAutoFit/>
          </a:bodyPr>
          <a:lstStyle/>
          <a:p>
            <a:r>
              <a:rPr lang="en-US" dirty="0"/>
              <a:t>W-W</a:t>
            </a:r>
          </a:p>
        </p:txBody>
      </p:sp>
    </p:spTree>
    <p:extLst>
      <p:ext uri="{BB962C8B-B14F-4D97-AF65-F5344CB8AC3E}">
        <p14:creationId xmlns:p14="http://schemas.microsoft.com/office/powerpoint/2010/main" val="3636038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B6950-2A69-4DBB-8451-FCC9CDE1FB74}"/>
              </a:ext>
            </a:extLst>
          </p:cNvPr>
          <p:cNvSpPr>
            <a:spLocks noGrp="1"/>
          </p:cNvSpPr>
          <p:nvPr>
            <p:ph type="title"/>
          </p:nvPr>
        </p:nvSpPr>
        <p:spPr/>
        <p:txBody>
          <a:bodyPr/>
          <a:lstStyle/>
          <a:p>
            <a:r>
              <a:rPr lang="en-US" dirty="0"/>
              <a:t>Extra Slides</a:t>
            </a:r>
          </a:p>
        </p:txBody>
      </p:sp>
      <p:sp>
        <p:nvSpPr>
          <p:cNvPr id="4" name="Footer Placeholder 3">
            <a:extLst>
              <a:ext uri="{FF2B5EF4-FFF2-40B4-BE49-F238E27FC236}">
                <a16:creationId xmlns:a16="http://schemas.microsoft.com/office/drawing/2014/main" id="{2827B0D1-4640-4662-867A-135178ACF607}"/>
              </a:ext>
            </a:extLst>
          </p:cNvPr>
          <p:cNvSpPr>
            <a:spLocks noGrp="1"/>
          </p:cNvSpPr>
          <p:nvPr>
            <p:ph type="ftr" sz="quarter" idx="11"/>
          </p:nvPr>
        </p:nvSpPr>
        <p:spPr/>
        <p:txBody>
          <a:bodyPr/>
          <a:lstStyle/>
          <a:p>
            <a:r>
              <a:rPr lang="en-US" b="1">
                <a:latin typeface="Cooper Black" charset="0"/>
                <a:ea typeface="Cooper Black" charset="0"/>
                <a:cs typeface="Cooper Black" charset="0"/>
              </a:rPr>
              <a:t>AdHiMad Lab</a:t>
            </a:r>
            <a:endParaRPr lang="en-US" dirty="0"/>
          </a:p>
        </p:txBody>
      </p:sp>
      <p:sp>
        <p:nvSpPr>
          <p:cNvPr id="5" name="Slide Number Placeholder 4">
            <a:extLst>
              <a:ext uri="{FF2B5EF4-FFF2-40B4-BE49-F238E27FC236}">
                <a16:creationId xmlns:a16="http://schemas.microsoft.com/office/drawing/2014/main" id="{730C3453-37B6-4E51-8BE1-8858435DA65A}"/>
              </a:ext>
            </a:extLst>
          </p:cNvPr>
          <p:cNvSpPr>
            <a:spLocks noGrp="1"/>
          </p:cNvSpPr>
          <p:nvPr>
            <p:ph type="sldNum" sz="quarter" idx="12"/>
          </p:nvPr>
        </p:nvSpPr>
        <p:spPr/>
        <p:txBody>
          <a:bodyPr/>
          <a:lstStyle/>
          <a:p>
            <a:fld id="{FC479A02-7583-0A4C-B996-8A3A8D1BCEA6}" type="slidenum">
              <a:rPr lang="en-US" smtClean="0"/>
              <a:t>7</a:t>
            </a:fld>
            <a:endParaRPr lang="en-US"/>
          </a:p>
        </p:txBody>
      </p:sp>
      <p:pic>
        <p:nvPicPr>
          <p:cNvPr id="7" name="Picture 6" descr="A graph of a graph of a number of dots&#10;&#10;Description automatically generated">
            <a:extLst>
              <a:ext uri="{FF2B5EF4-FFF2-40B4-BE49-F238E27FC236}">
                <a16:creationId xmlns:a16="http://schemas.microsoft.com/office/drawing/2014/main" id="{9EE41312-FF5E-4E64-9F33-EB6E7BAA6F41}"/>
              </a:ext>
            </a:extLst>
          </p:cNvPr>
          <p:cNvPicPr>
            <a:picLocks noChangeAspect="1"/>
          </p:cNvPicPr>
          <p:nvPr/>
        </p:nvPicPr>
        <p:blipFill rotWithShape="1">
          <a:blip r:embed="rId2">
            <a:extLst>
              <a:ext uri="{28A0092B-C50C-407E-A947-70E740481C1C}">
                <a14:useLocalDpi xmlns:a14="http://schemas.microsoft.com/office/drawing/2010/main" val="0"/>
              </a:ext>
            </a:extLst>
          </a:blip>
          <a:srcRect l="36092" r="36131"/>
          <a:stretch/>
        </p:blipFill>
        <p:spPr>
          <a:xfrm>
            <a:off x="451473" y="1412590"/>
            <a:ext cx="1625600" cy="4389129"/>
          </a:xfrm>
          <a:prstGeom prst="rect">
            <a:avLst/>
          </a:prstGeom>
        </p:spPr>
      </p:pic>
      <p:pic>
        <p:nvPicPr>
          <p:cNvPr id="11" name="Picture 10" descr="A graph of a graph with colored hexagons&#10;&#10;Description automatically generated">
            <a:extLst>
              <a:ext uri="{FF2B5EF4-FFF2-40B4-BE49-F238E27FC236}">
                <a16:creationId xmlns:a16="http://schemas.microsoft.com/office/drawing/2014/main" id="{19FA3A3B-16A4-4769-8ABF-587B79198B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4218" y="2006954"/>
            <a:ext cx="4267200" cy="3200400"/>
          </a:xfrm>
          <a:prstGeom prst="rect">
            <a:avLst/>
          </a:prstGeom>
        </p:spPr>
      </p:pic>
      <p:pic>
        <p:nvPicPr>
          <p:cNvPr id="13" name="Picture 12" descr="A graph of a graph showing a number of hexagons&#10;&#10;Description automatically generated">
            <a:extLst>
              <a:ext uri="{FF2B5EF4-FFF2-40B4-BE49-F238E27FC236}">
                <a16:creationId xmlns:a16="http://schemas.microsoft.com/office/drawing/2014/main" id="{5C3DCD64-5C74-4453-9140-6DE7A441C6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2900" y="2006954"/>
            <a:ext cx="4267200" cy="3200400"/>
          </a:xfrm>
          <a:prstGeom prst="rect">
            <a:avLst/>
          </a:prstGeom>
        </p:spPr>
      </p:pic>
      <p:pic>
        <p:nvPicPr>
          <p:cNvPr id="9" name="Picture 8" descr="A diagram of a graph&#10;&#10;Description automatically generated">
            <a:extLst>
              <a:ext uri="{FF2B5EF4-FFF2-40B4-BE49-F238E27FC236}">
                <a16:creationId xmlns:a16="http://schemas.microsoft.com/office/drawing/2014/main" id="{7AFD9666-4259-426C-8B18-E7EC0A260E04}"/>
              </a:ext>
            </a:extLst>
          </p:cNvPr>
          <p:cNvPicPr>
            <a:picLocks noChangeAspect="1"/>
          </p:cNvPicPr>
          <p:nvPr/>
        </p:nvPicPr>
        <p:blipFill rotWithShape="1">
          <a:blip r:embed="rId5">
            <a:extLst>
              <a:ext uri="{28A0092B-C50C-407E-A947-70E740481C1C}">
                <a14:useLocalDpi xmlns:a14="http://schemas.microsoft.com/office/drawing/2010/main" val="0"/>
              </a:ext>
            </a:extLst>
          </a:blip>
          <a:srcRect l="36566" r="37077"/>
          <a:stretch/>
        </p:blipFill>
        <p:spPr>
          <a:xfrm>
            <a:off x="5840426" y="1412590"/>
            <a:ext cx="1542474" cy="4389129"/>
          </a:xfrm>
          <a:prstGeom prst="rect">
            <a:avLst/>
          </a:prstGeom>
        </p:spPr>
      </p:pic>
    </p:spTree>
    <p:extLst>
      <p:ext uri="{BB962C8B-B14F-4D97-AF65-F5344CB8AC3E}">
        <p14:creationId xmlns:p14="http://schemas.microsoft.com/office/powerpoint/2010/main" val="1096645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344F8-222E-44E0-86E4-00045D839747}"/>
              </a:ext>
            </a:extLst>
          </p:cNvPr>
          <p:cNvSpPr>
            <a:spLocks noGrp="1"/>
          </p:cNvSpPr>
          <p:nvPr>
            <p:ph type="title"/>
          </p:nvPr>
        </p:nvSpPr>
        <p:spPr/>
        <p:txBody>
          <a:bodyPr/>
          <a:lstStyle/>
          <a:p>
            <a:r>
              <a:rPr lang="en-US" dirty="0"/>
              <a:t>Extra Slides</a:t>
            </a:r>
          </a:p>
        </p:txBody>
      </p:sp>
      <p:sp>
        <p:nvSpPr>
          <p:cNvPr id="4" name="Footer Placeholder 3">
            <a:extLst>
              <a:ext uri="{FF2B5EF4-FFF2-40B4-BE49-F238E27FC236}">
                <a16:creationId xmlns:a16="http://schemas.microsoft.com/office/drawing/2014/main" id="{48783FF3-E42F-46BA-8C76-F0075B3E8162}"/>
              </a:ext>
            </a:extLst>
          </p:cNvPr>
          <p:cNvSpPr>
            <a:spLocks noGrp="1"/>
          </p:cNvSpPr>
          <p:nvPr>
            <p:ph type="ftr" sz="quarter" idx="11"/>
          </p:nvPr>
        </p:nvSpPr>
        <p:spPr/>
        <p:txBody>
          <a:bodyPr/>
          <a:lstStyle/>
          <a:p>
            <a:r>
              <a:rPr lang="en-US" b="1">
                <a:latin typeface="Cooper Black" charset="0"/>
                <a:ea typeface="Cooper Black" charset="0"/>
                <a:cs typeface="Cooper Black" charset="0"/>
              </a:rPr>
              <a:t>AdHiMad Lab</a:t>
            </a:r>
            <a:endParaRPr lang="en-US" dirty="0"/>
          </a:p>
        </p:txBody>
      </p:sp>
      <p:sp>
        <p:nvSpPr>
          <p:cNvPr id="5" name="Slide Number Placeholder 4">
            <a:extLst>
              <a:ext uri="{FF2B5EF4-FFF2-40B4-BE49-F238E27FC236}">
                <a16:creationId xmlns:a16="http://schemas.microsoft.com/office/drawing/2014/main" id="{A0708E8A-00EE-4289-A41E-AF2C08600E7E}"/>
              </a:ext>
            </a:extLst>
          </p:cNvPr>
          <p:cNvSpPr>
            <a:spLocks noGrp="1"/>
          </p:cNvSpPr>
          <p:nvPr>
            <p:ph type="sldNum" sz="quarter" idx="12"/>
          </p:nvPr>
        </p:nvSpPr>
        <p:spPr/>
        <p:txBody>
          <a:bodyPr/>
          <a:lstStyle/>
          <a:p>
            <a:fld id="{FC479A02-7583-0A4C-B996-8A3A8D1BCEA6}" type="slidenum">
              <a:rPr lang="en-US" smtClean="0"/>
              <a:t>8</a:t>
            </a:fld>
            <a:endParaRPr lang="en-US"/>
          </a:p>
        </p:txBody>
      </p:sp>
      <p:pic>
        <p:nvPicPr>
          <p:cNvPr id="7" name="Picture 6" descr="A graph of a graph of a number of dots&#10;&#10;Description automatically generated">
            <a:extLst>
              <a:ext uri="{FF2B5EF4-FFF2-40B4-BE49-F238E27FC236}">
                <a16:creationId xmlns:a16="http://schemas.microsoft.com/office/drawing/2014/main" id="{C599404E-B1CD-4DD7-A1ED-847CE74AEB3F}"/>
              </a:ext>
            </a:extLst>
          </p:cNvPr>
          <p:cNvPicPr>
            <a:picLocks noChangeAspect="1"/>
          </p:cNvPicPr>
          <p:nvPr/>
        </p:nvPicPr>
        <p:blipFill rotWithShape="1">
          <a:blip r:embed="rId2">
            <a:extLst>
              <a:ext uri="{28A0092B-C50C-407E-A947-70E740481C1C}">
                <a14:useLocalDpi xmlns:a14="http://schemas.microsoft.com/office/drawing/2010/main" val="0"/>
              </a:ext>
            </a:extLst>
          </a:blip>
          <a:srcRect l="39110" r="40373"/>
          <a:stretch/>
        </p:blipFill>
        <p:spPr>
          <a:xfrm>
            <a:off x="586314" y="1234435"/>
            <a:ext cx="1200728" cy="4389129"/>
          </a:xfrm>
          <a:prstGeom prst="rect">
            <a:avLst/>
          </a:prstGeom>
        </p:spPr>
      </p:pic>
      <p:pic>
        <p:nvPicPr>
          <p:cNvPr id="9" name="Picture 8" descr="A graph of a graph of a number of dots&#10;&#10;Description automatically generated">
            <a:extLst>
              <a:ext uri="{FF2B5EF4-FFF2-40B4-BE49-F238E27FC236}">
                <a16:creationId xmlns:a16="http://schemas.microsoft.com/office/drawing/2014/main" id="{31D5E805-E887-4F1F-8EA6-E91A470856DC}"/>
              </a:ext>
            </a:extLst>
          </p:cNvPr>
          <p:cNvPicPr>
            <a:picLocks noChangeAspect="1"/>
          </p:cNvPicPr>
          <p:nvPr/>
        </p:nvPicPr>
        <p:blipFill rotWithShape="1">
          <a:blip r:embed="rId3">
            <a:extLst>
              <a:ext uri="{28A0092B-C50C-407E-A947-70E740481C1C}">
                <a14:useLocalDpi xmlns:a14="http://schemas.microsoft.com/office/drawing/2010/main" val="0"/>
              </a:ext>
            </a:extLst>
          </a:blip>
          <a:srcRect l="38545" r="40938"/>
          <a:stretch/>
        </p:blipFill>
        <p:spPr>
          <a:xfrm>
            <a:off x="6054242" y="1197491"/>
            <a:ext cx="1200728" cy="4389129"/>
          </a:xfrm>
          <a:prstGeom prst="rect">
            <a:avLst/>
          </a:prstGeom>
        </p:spPr>
      </p:pic>
      <p:pic>
        <p:nvPicPr>
          <p:cNvPr id="11" name="Picture 10" descr="A graph of a graph of a line&#10;&#10;Description automatically generated">
            <a:extLst>
              <a:ext uri="{FF2B5EF4-FFF2-40B4-BE49-F238E27FC236}">
                <a16:creationId xmlns:a16="http://schemas.microsoft.com/office/drawing/2014/main" id="{49775E2E-874B-471B-9905-6CB6DE0BE2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7042" y="1828799"/>
            <a:ext cx="4267200" cy="3200400"/>
          </a:xfrm>
          <a:prstGeom prst="rect">
            <a:avLst/>
          </a:prstGeom>
        </p:spPr>
      </p:pic>
      <p:pic>
        <p:nvPicPr>
          <p:cNvPr id="13" name="Picture 12" descr="A graph of a graph&#10;&#10;Description automatically generated">
            <a:extLst>
              <a:ext uri="{FF2B5EF4-FFF2-40B4-BE49-F238E27FC236}">
                <a16:creationId xmlns:a16="http://schemas.microsoft.com/office/drawing/2014/main" id="{AF7289E6-45E4-4EF5-ACAF-2091EB688C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4970" y="1828799"/>
            <a:ext cx="4267200" cy="3200400"/>
          </a:xfrm>
          <a:prstGeom prst="rect">
            <a:avLst/>
          </a:prstGeom>
        </p:spPr>
      </p:pic>
    </p:spTree>
    <p:extLst>
      <p:ext uri="{BB962C8B-B14F-4D97-AF65-F5344CB8AC3E}">
        <p14:creationId xmlns:p14="http://schemas.microsoft.com/office/powerpoint/2010/main" val="1977014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Cooper Black" charset="0"/>
                <a:ea typeface="Cooper Black" charset="0"/>
                <a:cs typeface="Cooper Black" charset="0"/>
              </a:rPr>
              <a:t>AdHiMad Lab</a:t>
            </a:r>
            <a:endParaRPr kumimoji="0" lang="en-US" sz="2000" b="0" i="0" u="none" strike="noStrike" kern="1200" cap="none" spc="0" normalizeH="0" baseline="0" noProof="0" dirty="0">
              <a:ln>
                <a:noFill/>
              </a:ln>
              <a:solidFill>
                <a:prstClr val="white"/>
              </a:solidFill>
              <a:effectLst/>
              <a:uLnTx/>
              <a:uFillTx/>
              <a:latin typeface="Cooper Black" charset="0"/>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479A02-7583-0A4C-B996-8A3A8D1BCEA6}" type="slidenum">
              <a:rPr kumimoji="0" lang="en-US" sz="1200" b="0" i="0" u="none" strike="noStrike" kern="1200" cap="none" spc="0" normalizeH="0" baseline="0" noProof="0" smtClean="0">
                <a:ln>
                  <a:noFill/>
                </a:ln>
                <a:solidFill>
                  <a:prstClr val="white"/>
                </a:solidFill>
                <a:effectLst/>
                <a:uLnTx/>
                <a:uFillTx/>
                <a:latin typeface="Cooper Black"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white"/>
              </a:solidFill>
              <a:effectLst/>
              <a:uLnTx/>
              <a:uFillTx/>
              <a:latin typeface="Cooper Black" charset="0"/>
            </a:endParaRPr>
          </a:p>
        </p:txBody>
      </p:sp>
      <p:sp>
        <p:nvSpPr>
          <p:cNvPr id="6" name="Rectangle 5"/>
          <p:cNvSpPr/>
          <p:nvPr/>
        </p:nvSpPr>
        <p:spPr>
          <a:xfrm>
            <a:off x="4561193" y="2967335"/>
            <a:ext cx="3069623"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Thank You</a:t>
            </a:r>
          </a:p>
        </p:txBody>
      </p:sp>
    </p:spTree>
    <p:extLst>
      <p:ext uri="{BB962C8B-B14F-4D97-AF65-F5344CB8AC3E}">
        <p14:creationId xmlns:p14="http://schemas.microsoft.com/office/powerpoint/2010/main" val="122458304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13077</TotalTime>
  <Words>618</Words>
  <Application>Microsoft Office PowerPoint</Application>
  <PresentationFormat>Widescreen</PresentationFormat>
  <Paragraphs>66</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Cooper Black</vt:lpstr>
      <vt:lpstr>1_Office Theme</vt:lpstr>
      <vt:lpstr>TMDGen</vt:lpstr>
      <vt:lpstr>TMDGen</vt:lpstr>
      <vt:lpstr>TMDGen</vt:lpstr>
      <vt:lpstr>Modules</vt:lpstr>
      <vt:lpstr>Modules</vt:lpstr>
      <vt:lpstr>Output</vt:lpstr>
      <vt:lpstr>Extra Slides</vt:lpstr>
      <vt:lpstr>Extra Slides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Meeting  April 28, 2023</dc:title>
  <dc:creator>Nuruzzaman Sakib</dc:creator>
  <cp:lastModifiedBy>Nuruzzaman Sakib</cp:lastModifiedBy>
  <cp:revision>99</cp:revision>
  <dcterms:created xsi:type="dcterms:W3CDTF">2023-04-26T21:01:03Z</dcterms:created>
  <dcterms:modified xsi:type="dcterms:W3CDTF">2024-04-27T21:44:01Z</dcterms:modified>
</cp:coreProperties>
</file>